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Merriweather" panose="020F0502020204030204" pitchFamily="2"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1404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829628"/>
            <a:ext cx="7416403" cy="1542574"/>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Visually Impaired Footstep Tracker</a:t>
            </a:r>
            <a:endParaRPr lang="en-US" sz="4850" dirty="0"/>
          </a:p>
        </p:txBody>
      </p:sp>
      <p:sp>
        <p:nvSpPr>
          <p:cNvPr id="4" name="Text 1"/>
          <p:cNvSpPr/>
          <p:nvPr/>
        </p:nvSpPr>
        <p:spPr>
          <a:xfrm>
            <a:off x="6350198" y="2742367"/>
            <a:ext cx="7416403" cy="3948113"/>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Introducing an innovative solution designed to enhance independent mobility and navigation for visually impaired individuals. Mobility restrictions currently generate an astounding $411 billion in annual economic impact globally. This project aims to address the needs of 285 million visually impaired individuals worldwide by providing a cutting-edge footstep tracking system. Presented with pride for the 2025 Global Accessibility Ideathon, this solution promises to revolutionize personal navigation and fitness tracking for the blind community.</a:t>
            </a:r>
            <a:endParaRPr lang="en-US" sz="1900" dirty="0"/>
          </a:p>
        </p:txBody>
      </p:sp>
      <p:sp>
        <p:nvSpPr>
          <p:cNvPr id="5" name="Shape 2"/>
          <p:cNvSpPr/>
          <p:nvPr/>
        </p:nvSpPr>
        <p:spPr>
          <a:xfrm>
            <a:off x="6350198" y="6986587"/>
            <a:ext cx="394930" cy="394930"/>
          </a:xfrm>
          <a:prstGeom prst="roundRect">
            <a:avLst>
              <a:gd name="adj" fmla="val 23151155"/>
            </a:avLst>
          </a:prstGeom>
          <a:noFill/>
          <a:ln w="7620">
            <a:solidFill>
              <a:srgbClr val="4D4D51"/>
            </a:solidFill>
            <a:prstDash val="solid"/>
          </a:ln>
        </p:spPr>
      </p:sp>
      <p:pic>
        <p:nvPicPr>
          <p:cNvPr id="6" name="Image 1" descr="preencoded.png"/>
          <p:cNvPicPr>
            <a:picLocks noChangeAspect="1"/>
          </p:cNvPicPr>
          <p:nvPr/>
        </p:nvPicPr>
        <p:blipFill>
          <a:blip r:embed="rId4"/>
          <a:stretch>
            <a:fillRect/>
          </a:stretch>
        </p:blipFill>
        <p:spPr>
          <a:xfrm>
            <a:off x="6357818" y="6994208"/>
            <a:ext cx="379690" cy="379690"/>
          </a:xfrm>
          <a:prstGeom prst="rect">
            <a:avLst/>
          </a:prstGeom>
        </p:spPr>
      </p:pic>
      <p:sp>
        <p:nvSpPr>
          <p:cNvPr id="7" name="Text 3"/>
          <p:cNvSpPr/>
          <p:nvPr/>
        </p:nvSpPr>
        <p:spPr>
          <a:xfrm>
            <a:off x="6868478" y="6968133"/>
            <a:ext cx="3044428" cy="431840"/>
          </a:xfrm>
          <a:prstGeom prst="rect">
            <a:avLst/>
          </a:prstGeom>
          <a:noFill/>
          <a:ln/>
        </p:spPr>
        <p:txBody>
          <a:bodyPr wrap="none" lIns="0" tIns="0" rIns="0" bIns="0" rtlCol="0" anchor="t"/>
          <a:lstStyle/>
          <a:p>
            <a:pPr marL="0" indent="0" algn="l">
              <a:lnSpc>
                <a:spcPts val="3400"/>
              </a:lnSpc>
              <a:buNone/>
            </a:pPr>
            <a:r>
              <a:rPr lang="en-US" sz="2400" b="1" dirty="0">
                <a:solidFill>
                  <a:srgbClr val="E2E6E9"/>
                </a:solidFill>
                <a:latin typeface="Merriweather Bold" pitchFamily="34" charset="0"/>
                <a:ea typeface="Merriweather Bold" pitchFamily="34" charset="-122"/>
                <a:cs typeface="Merriweather Bold" pitchFamily="34" charset="-120"/>
              </a:rPr>
              <a:t>by 163-satyam tyagi</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845820" y="678656"/>
            <a:ext cx="6042065" cy="755213"/>
          </a:xfrm>
          <a:prstGeom prst="rect">
            <a:avLst/>
          </a:prstGeom>
          <a:noFill/>
          <a:ln/>
        </p:spPr>
        <p:txBody>
          <a:bodyPr wrap="none" lIns="0" tIns="0" rIns="0" bIns="0" rtlCol="0" anchor="t"/>
          <a:lstStyle/>
          <a:p>
            <a:pPr marL="0" indent="0" algn="l">
              <a:lnSpc>
                <a:spcPts val="5900"/>
              </a:lnSpc>
              <a:buNone/>
            </a:pPr>
            <a:r>
              <a:rPr lang="en-US" sz="4750" dirty="0">
                <a:solidFill>
                  <a:srgbClr val="F5F0F0"/>
                </a:solidFill>
                <a:latin typeface="Merriweather" pitchFamily="34" charset="0"/>
                <a:ea typeface="Merriweather" pitchFamily="34" charset="-122"/>
                <a:cs typeface="Merriweather" pitchFamily="34" charset="-120"/>
              </a:rPr>
              <a:t>Problem Statement</a:t>
            </a:r>
            <a:endParaRPr lang="en-US" sz="4750" dirty="0"/>
          </a:p>
        </p:txBody>
      </p:sp>
      <p:sp>
        <p:nvSpPr>
          <p:cNvPr id="4" name="Shape 1"/>
          <p:cNvSpPr/>
          <p:nvPr/>
        </p:nvSpPr>
        <p:spPr>
          <a:xfrm>
            <a:off x="845820" y="1796296"/>
            <a:ext cx="3605451" cy="3718679"/>
          </a:xfrm>
          <a:prstGeom prst="roundRect">
            <a:avLst>
              <a:gd name="adj" fmla="val 2815"/>
            </a:avLst>
          </a:prstGeom>
          <a:solidFill>
            <a:srgbClr val="003180"/>
          </a:solidFill>
          <a:ln w="7620">
            <a:solidFill>
              <a:srgbClr val="194A99"/>
            </a:solidFill>
            <a:prstDash val="solid"/>
          </a:ln>
        </p:spPr>
      </p:sp>
      <p:sp>
        <p:nvSpPr>
          <p:cNvPr id="5" name="Text 2"/>
          <p:cNvSpPr/>
          <p:nvPr/>
        </p:nvSpPr>
        <p:spPr>
          <a:xfrm>
            <a:off x="1095018" y="2045494"/>
            <a:ext cx="3020973" cy="377547"/>
          </a:xfrm>
          <a:prstGeom prst="rect">
            <a:avLst/>
          </a:prstGeom>
          <a:noFill/>
          <a:ln/>
        </p:spPr>
        <p:txBody>
          <a:bodyPr wrap="none" lIns="0" tIns="0" rIns="0" bIns="0" rtlCol="0" anchor="t"/>
          <a:lstStyle/>
          <a:p>
            <a:pPr marL="0" indent="0" algn="l">
              <a:lnSpc>
                <a:spcPts val="2950"/>
              </a:lnSpc>
              <a:buNone/>
            </a:pPr>
            <a:r>
              <a:rPr lang="en-US" sz="2350" dirty="0">
                <a:solidFill>
                  <a:srgbClr val="E2E6E9"/>
                </a:solidFill>
                <a:latin typeface="Merriweather" pitchFamily="34" charset="0"/>
                <a:ea typeface="Merriweather" pitchFamily="34" charset="-122"/>
                <a:cs typeface="Merriweather" pitchFamily="34" charset="-120"/>
              </a:rPr>
              <a:t>Mobility Challenges</a:t>
            </a:r>
            <a:endParaRPr lang="en-US" sz="2350" dirty="0"/>
          </a:p>
        </p:txBody>
      </p:sp>
      <p:sp>
        <p:nvSpPr>
          <p:cNvPr id="6" name="Text 3"/>
          <p:cNvSpPr/>
          <p:nvPr/>
        </p:nvSpPr>
        <p:spPr>
          <a:xfrm>
            <a:off x="1095018" y="2567940"/>
            <a:ext cx="3107055" cy="2320290"/>
          </a:xfrm>
          <a:prstGeom prst="rect">
            <a:avLst/>
          </a:prstGeom>
          <a:noFill/>
          <a:ln/>
        </p:spPr>
        <p:txBody>
          <a:bodyPr wrap="square" lIns="0" tIns="0" rIns="0" bIns="0" rtlCol="0" anchor="t"/>
          <a:lstStyle/>
          <a:p>
            <a:pPr marL="0" indent="0" algn="l">
              <a:lnSpc>
                <a:spcPts val="3000"/>
              </a:lnSpc>
              <a:buNone/>
            </a:pPr>
            <a:r>
              <a:rPr lang="en-US" sz="1900" dirty="0">
                <a:solidFill>
                  <a:srgbClr val="E2E6E9"/>
                </a:solidFill>
                <a:latin typeface="Merriweather" pitchFamily="34" charset="0"/>
                <a:ea typeface="Merriweather" pitchFamily="34" charset="-122"/>
                <a:cs typeface="Merriweather" pitchFamily="34" charset="-120"/>
              </a:rPr>
              <a:t>Mobility is one of the most pressing difficulties faced by blind and low vision people, with over 62% reporting trouble with independent travel.</a:t>
            </a:r>
            <a:endParaRPr lang="en-US" sz="1900" dirty="0"/>
          </a:p>
        </p:txBody>
      </p:sp>
      <p:sp>
        <p:nvSpPr>
          <p:cNvPr id="7" name="Shape 4"/>
          <p:cNvSpPr/>
          <p:nvPr/>
        </p:nvSpPr>
        <p:spPr>
          <a:xfrm>
            <a:off x="4692848" y="1796296"/>
            <a:ext cx="3605451" cy="3718679"/>
          </a:xfrm>
          <a:prstGeom prst="roundRect">
            <a:avLst>
              <a:gd name="adj" fmla="val 2815"/>
            </a:avLst>
          </a:prstGeom>
          <a:solidFill>
            <a:srgbClr val="003180"/>
          </a:solidFill>
          <a:ln w="7620">
            <a:solidFill>
              <a:srgbClr val="194A99"/>
            </a:solidFill>
            <a:prstDash val="solid"/>
          </a:ln>
        </p:spPr>
      </p:sp>
      <p:sp>
        <p:nvSpPr>
          <p:cNvPr id="8" name="Text 5"/>
          <p:cNvSpPr/>
          <p:nvPr/>
        </p:nvSpPr>
        <p:spPr>
          <a:xfrm>
            <a:off x="4942046" y="2045494"/>
            <a:ext cx="3107055" cy="755094"/>
          </a:xfrm>
          <a:prstGeom prst="rect">
            <a:avLst/>
          </a:prstGeom>
          <a:noFill/>
          <a:ln/>
        </p:spPr>
        <p:txBody>
          <a:bodyPr wrap="square" lIns="0" tIns="0" rIns="0" bIns="0" rtlCol="0" anchor="t"/>
          <a:lstStyle/>
          <a:p>
            <a:pPr marL="0" indent="0" algn="l">
              <a:lnSpc>
                <a:spcPts val="2950"/>
              </a:lnSpc>
              <a:buNone/>
            </a:pPr>
            <a:r>
              <a:rPr lang="en-US" sz="2350" dirty="0">
                <a:solidFill>
                  <a:srgbClr val="E2E6E9"/>
                </a:solidFill>
                <a:latin typeface="Merriweather" pitchFamily="34" charset="0"/>
                <a:ea typeface="Merriweather" pitchFamily="34" charset="-122"/>
                <a:cs typeface="Merriweather" pitchFamily="34" charset="-120"/>
              </a:rPr>
              <a:t>Limitations of Current Aids</a:t>
            </a:r>
            <a:endParaRPr lang="en-US" sz="2350" dirty="0"/>
          </a:p>
        </p:txBody>
      </p:sp>
      <p:sp>
        <p:nvSpPr>
          <p:cNvPr id="9" name="Text 6"/>
          <p:cNvSpPr/>
          <p:nvPr/>
        </p:nvSpPr>
        <p:spPr>
          <a:xfrm>
            <a:off x="4942046" y="2945487"/>
            <a:ext cx="3107055" cy="2320290"/>
          </a:xfrm>
          <a:prstGeom prst="rect">
            <a:avLst/>
          </a:prstGeom>
          <a:noFill/>
          <a:ln/>
        </p:spPr>
        <p:txBody>
          <a:bodyPr wrap="square" lIns="0" tIns="0" rIns="0" bIns="0" rtlCol="0" anchor="t"/>
          <a:lstStyle/>
          <a:p>
            <a:pPr marL="0" indent="0" algn="l">
              <a:lnSpc>
                <a:spcPts val="3000"/>
              </a:lnSpc>
              <a:buNone/>
            </a:pPr>
            <a:r>
              <a:rPr lang="en-US" sz="1900" dirty="0">
                <a:solidFill>
                  <a:srgbClr val="E2E6E9"/>
                </a:solidFill>
                <a:latin typeface="Merriweather" pitchFamily="34" charset="0"/>
                <a:ea typeface="Merriweather" pitchFamily="34" charset="-122"/>
                <a:cs typeface="Merriweather" pitchFamily="34" charset="-120"/>
              </a:rPr>
              <a:t>Existing navigation aids primarily focus on obstacle avoidance but do not provide personalized tracking of steps or activity levels.</a:t>
            </a:r>
            <a:endParaRPr lang="en-US" sz="1900" dirty="0"/>
          </a:p>
        </p:txBody>
      </p:sp>
      <p:sp>
        <p:nvSpPr>
          <p:cNvPr id="10" name="Shape 7"/>
          <p:cNvSpPr/>
          <p:nvPr/>
        </p:nvSpPr>
        <p:spPr>
          <a:xfrm>
            <a:off x="845820" y="5756553"/>
            <a:ext cx="7452360" cy="1794272"/>
          </a:xfrm>
          <a:prstGeom prst="roundRect">
            <a:avLst>
              <a:gd name="adj" fmla="val 5657"/>
            </a:avLst>
          </a:prstGeom>
          <a:solidFill>
            <a:srgbClr val="003180"/>
          </a:solidFill>
          <a:ln w="7620">
            <a:solidFill>
              <a:srgbClr val="194A99"/>
            </a:solidFill>
            <a:prstDash val="solid"/>
          </a:ln>
        </p:spPr>
      </p:sp>
      <p:sp>
        <p:nvSpPr>
          <p:cNvPr id="11" name="Text 8"/>
          <p:cNvSpPr/>
          <p:nvPr/>
        </p:nvSpPr>
        <p:spPr>
          <a:xfrm>
            <a:off x="1095018" y="6005751"/>
            <a:ext cx="4263747" cy="377547"/>
          </a:xfrm>
          <a:prstGeom prst="rect">
            <a:avLst/>
          </a:prstGeom>
          <a:noFill/>
          <a:ln/>
        </p:spPr>
        <p:txBody>
          <a:bodyPr wrap="none" lIns="0" tIns="0" rIns="0" bIns="0" rtlCol="0" anchor="t"/>
          <a:lstStyle/>
          <a:p>
            <a:pPr marL="0" indent="0" algn="l">
              <a:lnSpc>
                <a:spcPts val="2950"/>
              </a:lnSpc>
              <a:buNone/>
            </a:pPr>
            <a:r>
              <a:rPr lang="en-US" sz="2350" dirty="0">
                <a:solidFill>
                  <a:srgbClr val="E2E6E9"/>
                </a:solidFill>
                <a:latin typeface="Merriweather" pitchFamily="34" charset="0"/>
                <a:ea typeface="Merriweather" pitchFamily="34" charset="-122"/>
                <a:cs typeface="Merriweather" pitchFamily="34" charset="-120"/>
              </a:rPr>
              <a:t>Inaccessible Fitness Tracking</a:t>
            </a:r>
            <a:endParaRPr lang="en-US" sz="2350" dirty="0"/>
          </a:p>
        </p:txBody>
      </p:sp>
      <p:sp>
        <p:nvSpPr>
          <p:cNvPr id="12" name="Text 9"/>
          <p:cNvSpPr/>
          <p:nvPr/>
        </p:nvSpPr>
        <p:spPr>
          <a:xfrm>
            <a:off x="1095018" y="6528197"/>
            <a:ext cx="6953964" cy="773430"/>
          </a:xfrm>
          <a:prstGeom prst="rect">
            <a:avLst/>
          </a:prstGeom>
          <a:noFill/>
          <a:ln/>
        </p:spPr>
        <p:txBody>
          <a:bodyPr wrap="square" lIns="0" tIns="0" rIns="0" bIns="0" rtlCol="0" anchor="t"/>
          <a:lstStyle/>
          <a:p>
            <a:pPr marL="0" indent="0" algn="l">
              <a:lnSpc>
                <a:spcPts val="3000"/>
              </a:lnSpc>
              <a:buNone/>
            </a:pPr>
            <a:r>
              <a:rPr lang="en-US" sz="1900" dirty="0">
                <a:solidFill>
                  <a:srgbClr val="E2E6E9"/>
                </a:solidFill>
                <a:latin typeface="Merriweather" pitchFamily="34" charset="0"/>
                <a:ea typeface="Merriweather" pitchFamily="34" charset="-122"/>
                <a:cs typeface="Merriweather" pitchFamily="34" charset="-120"/>
              </a:rPr>
              <a:t>Popular fitness trackers are largely inaccessible to visually impaired users, leaving a crucial health monitoring gap.</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1361003"/>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Market Analysis</a:t>
            </a:r>
            <a:endParaRPr lang="en-US" sz="4850" dirty="0"/>
          </a:p>
        </p:txBody>
      </p:sp>
      <p:sp>
        <p:nvSpPr>
          <p:cNvPr id="3" name="Text 1"/>
          <p:cNvSpPr/>
          <p:nvPr/>
        </p:nvSpPr>
        <p:spPr>
          <a:xfrm>
            <a:off x="863798" y="2749272"/>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Target Population</a:t>
            </a:r>
            <a:endParaRPr lang="en-US" sz="2400" dirty="0"/>
          </a:p>
        </p:txBody>
      </p:sp>
      <p:sp>
        <p:nvSpPr>
          <p:cNvPr id="4" name="Text 2"/>
          <p:cNvSpPr/>
          <p:nvPr/>
        </p:nvSpPr>
        <p:spPr>
          <a:xfrm>
            <a:off x="863798" y="3381613"/>
            <a:ext cx="615029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285 million visually impaired individuals worldwide present a significant demand for mobility and health tracking solutions.</a:t>
            </a:r>
            <a:endParaRPr lang="en-US" sz="1900" dirty="0"/>
          </a:p>
        </p:txBody>
      </p:sp>
      <p:sp>
        <p:nvSpPr>
          <p:cNvPr id="5" name="Text 3"/>
          <p:cNvSpPr/>
          <p:nvPr/>
        </p:nvSpPr>
        <p:spPr>
          <a:xfrm>
            <a:off x="7623929" y="2749272"/>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Market Growth</a:t>
            </a:r>
            <a:endParaRPr lang="en-US" sz="2400" dirty="0"/>
          </a:p>
        </p:txBody>
      </p:sp>
      <p:sp>
        <p:nvSpPr>
          <p:cNvPr id="6" name="Text 4"/>
          <p:cNvSpPr/>
          <p:nvPr/>
        </p:nvSpPr>
        <p:spPr>
          <a:xfrm>
            <a:off x="7623929" y="3381613"/>
            <a:ext cx="615029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assistive technology market is expanding at an annual rate of 7.5%, driven by innovations and rising accessibility awareness.</a:t>
            </a:r>
            <a:endParaRPr lang="en-US" sz="1900" dirty="0"/>
          </a:p>
        </p:txBody>
      </p:sp>
      <p:sp>
        <p:nvSpPr>
          <p:cNvPr id="7" name="Shape 5"/>
          <p:cNvSpPr/>
          <p:nvPr/>
        </p:nvSpPr>
        <p:spPr>
          <a:xfrm>
            <a:off x="863798" y="5065752"/>
            <a:ext cx="555308" cy="555308"/>
          </a:xfrm>
          <a:prstGeom prst="roundRect">
            <a:avLst>
              <a:gd name="adj" fmla="val 18669"/>
            </a:avLst>
          </a:prstGeom>
          <a:solidFill>
            <a:srgbClr val="003180"/>
          </a:solidFill>
          <a:ln w="15240">
            <a:solidFill>
              <a:srgbClr val="194A99"/>
            </a:solidFill>
            <a:prstDash val="solid"/>
          </a:ln>
        </p:spPr>
      </p:sp>
      <p:sp>
        <p:nvSpPr>
          <p:cNvPr id="8" name="Text 6"/>
          <p:cNvSpPr/>
          <p:nvPr/>
        </p:nvSpPr>
        <p:spPr>
          <a:xfrm>
            <a:off x="1665923" y="5150525"/>
            <a:ext cx="3467933"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Competitive Landscape</a:t>
            </a:r>
            <a:endParaRPr lang="en-US" sz="2400" dirty="0"/>
          </a:p>
        </p:txBody>
      </p:sp>
      <p:sp>
        <p:nvSpPr>
          <p:cNvPr id="9" name="Text 7"/>
          <p:cNvSpPr/>
          <p:nvPr/>
        </p:nvSpPr>
        <p:spPr>
          <a:xfrm>
            <a:off x="1665923" y="5684044"/>
            <a:ext cx="5495092"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Current solutions include AI-powered mobility aids and smartphone wayfinding apps but lack integrated movement tracking.</a:t>
            </a:r>
            <a:endParaRPr lang="en-US" sz="1900" dirty="0"/>
          </a:p>
        </p:txBody>
      </p:sp>
      <p:sp>
        <p:nvSpPr>
          <p:cNvPr id="10" name="Shape 8"/>
          <p:cNvSpPr/>
          <p:nvPr/>
        </p:nvSpPr>
        <p:spPr>
          <a:xfrm>
            <a:off x="7469505" y="5065752"/>
            <a:ext cx="555308" cy="555308"/>
          </a:xfrm>
          <a:prstGeom prst="roundRect">
            <a:avLst>
              <a:gd name="adj" fmla="val 18669"/>
            </a:avLst>
          </a:prstGeom>
          <a:solidFill>
            <a:srgbClr val="003180"/>
          </a:solidFill>
          <a:ln w="15240">
            <a:solidFill>
              <a:srgbClr val="194A99"/>
            </a:solidFill>
            <a:prstDash val="solid"/>
          </a:ln>
        </p:spPr>
      </p:sp>
      <p:sp>
        <p:nvSpPr>
          <p:cNvPr id="11" name="Text 9"/>
          <p:cNvSpPr/>
          <p:nvPr/>
        </p:nvSpPr>
        <p:spPr>
          <a:xfrm>
            <a:off x="8271629" y="515052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Identified Gap</a:t>
            </a:r>
            <a:endParaRPr lang="en-US" sz="2400" dirty="0"/>
          </a:p>
        </p:txBody>
      </p:sp>
      <p:sp>
        <p:nvSpPr>
          <p:cNvPr id="12" name="Text 10"/>
          <p:cNvSpPr/>
          <p:nvPr/>
        </p:nvSpPr>
        <p:spPr>
          <a:xfrm>
            <a:off x="8271629" y="5684044"/>
            <a:ext cx="5495092"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No existing product combines personalized step monitoring with navigation and fitness features tailored for the visually impaired.</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17696" y="2692003"/>
            <a:ext cx="4871442" cy="551498"/>
          </a:xfrm>
          <a:prstGeom prst="rect">
            <a:avLst/>
          </a:prstGeom>
          <a:noFill/>
          <a:ln/>
        </p:spPr>
        <p:txBody>
          <a:bodyPr wrap="none" lIns="0" tIns="0" rIns="0" bIns="0" rtlCol="0" anchor="t"/>
          <a:lstStyle/>
          <a:p>
            <a:pPr marL="0" indent="0" algn="l">
              <a:lnSpc>
                <a:spcPts val="4300"/>
              </a:lnSpc>
              <a:buNone/>
            </a:pPr>
            <a:r>
              <a:rPr lang="en-US" sz="3450" dirty="0">
                <a:solidFill>
                  <a:srgbClr val="F5F0F0"/>
                </a:solidFill>
                <a:latin typeface="Merriweather" pitchFamily="34" charset="0"/>
                <a:ea typeface="Merriweather" pitchFamily="34" charset="-122"/>
                <a:cs typeface="Merriweather" pitchFamily="34" charset="-120"/>
              </a:rPr>
              <a:t>Our Solution: EchoStep</a:t>
            </a:r>
            <a:endParaRPr lang="en-US" sz="3450" dirty="0"/>
          </a:p>
        </p:txBody>
      </p:sp>
      <p:pic>
        <p:nvPicPr>
          <p:cNvPr id="4" name="Image 1" descr="preencoded.png"/>
          <p:cNvPicPr>
            <a:picLocks noChangeAspect="1"/>
          </p:cNvPicPr>
          <p:nvPr/>
        </p:nvPicPr>
        <p:blipFill>
          <a:blip r:embed="rId3"/>
          <a:stretch>
            <a:fillRect/>
          </a:stretch>
        </p:blipFill>
        <p:spPr>
          <a:xfrm>
            <a:off x="617696" y="3508177"/>
            <a:ext cx="882491" cy="1058942"/>
          </a:xfrm>
          <a:prstGeom prst="rect">
            <a:avLst/>
          </a:prstGeom>
        </p:spPr>
      </p:pic>
      <p:sp>
        <p:nvSpPr>
          <p:cNvPr id="5" name="Text 1"/>
          <p:cNvSpPr/>
          <p:nvPr/>
        </p:nvSpPr>
        <p:spPr>
          <a:xfrm>
            <a:off x="1764863" y="3684627"/>
            <a:ext cx="2883813" cy="275749"/>
          </a:xfrm>
          <a:prstGeom prst="rect">
            <a:avLst/>
          </a:prstGeom>
          <a:noFill/>
          <a:ln/>
        </p:spPr>
        <p:txBody>
          <a:bodyPr wrap="none" lIns="0" tIns="0" rIns="0" bIns="0" rtlCol="0" anchor="t"/>
          <a:lstStyle/>
          <a:p>
            <a:pPr marL="0" indent="0" algn="l">
              <a:lnSpc>
                <a:spcPts val="2150"/>
              </a:lnSpc>
              <a:buNone/>
            </a:pPr>
            <a:r>
              <a:rPr lang="en-US" sz="1700" dirty="0">
                <a:solidFill>
                  <a:srgbClr val="E2E6E9"/>
                </a:solidFill>
                <a:latin typeface="Merriweather" pitchFamily="34" charset="0"/>
                <a:ea typeface="Merriweather" pitchFamily="34" charset="-122"/>
                <a:cs typeface="Merriweather" pitchFamily="34" charset="-120"/>
              </a:rPr>
              <a:t>Smart Insoles with Sensors</a:t>
            </a:r>
            <a:endParaRPr lang="en-US" sz="1700" dirty="0"/>
          </a:p>
        </p:txBody>
      </p:sp>
      <p:sp>
        <p:nvSpPr>
          <p:cNvPr id="6" name="Text 2"/>
          <p:cNvSpPr/>
          <p:nvPr/>
        </p:nvSpPr>
        <p:spPr>
          <a:xfrm>
            <a:off x="1764863" y="4066222"/>
            <a:ext cx="12247840" cy="282297"/>
          </a:xfrm>
          <a:prstGeom prst="rect">
            <a:avLst/>
          </a:prstGeom>
          <a:noFill/>
          <a:ln/>
        </p:spPr>
        <p:txBody>
          <a:bodyPr wrap="none" lIns="0" tIns="0" rIns="0" bIns="0" rtlCol="0" anchor="t"/>
          <a:lstStyle/>
          <a:p>
            <a:pPr marL="0" indent="0" algn="l">
              <a:lnSpc>
                <a:spcPts val="2200"/>
              </a:lnSpc>
              <a:buNone/>
            </a:pPr>
            <a:r>
              <a:rPr lang="en-US" sz="1350" dirty="0">
                <a:solidFill>
                  <a:srgbClr val="E2E6E9"/>
                </a:solidFill>
                <a:latin typeface="Merriweather" pitchFamily="34" charset="0"/>
                <a:ea typeface="Merriweather" pitchFamily="34" charset="-122"/>
                <a:cs typeface="Merriweather" pitchFamily="34" charset="-120"/>
              </a:rPr>
              <a:t>Embedded pressure sensors provide accurate step counting and detailed gait analysis in real time.</a:t>
            </a:r>
            <a:endParaRPr lang="en-US" sz="1350" dirty="0"/>
          </a:p>
        </p:txBody>
      </p:sp>
      <p:pic>
        <p:nvPicPr>
          <p:cNvPr id="7" name="Image 2" descr="preencoded.png"/>
          <p:cNvPicPr>
            <a:picLocks noChangeAspect="1"/>
          </p:cNvPicPr>
          <p:nvPr/>
        </p:nvPicPr>
        <p:blipFill>
          <a:blip r:embed="rId4"/>
          <a:stretch>
            <a:fillRect/>
          </a:stretch>
        </p:blipFill>
        <p:spPr>
          <a:xfrm>
            <a:off x="617696" y="4567118"/>
            <a:ext cx="882491" cy="1058942"/>
          </a:xfrm>
          <a:prstGeom prst="rect">
            <a:avLst/>
          </a:prstGeom>
        </p:spPr>
      </p:pic>
      <p:sp>
        <p:nvSpPr>
          <p:cNvPr id="8" name="Text 3"/>
          <p:cNvSpPr/>
          <p:nvPr/>
        </p:nvSpPr>
        <p:spPr>
          <a:xfrm>
            <a:off x="1764863" y="4743569"/>
            <a:ext cx="2768798" cy="275749"/>
          </a:xfrm>
          <a:prstGeom prst="rect">
            <a:avLst/>
          </a:prstGeom>
          <a:noFill/>
          <a:ln/>
        </p:spPr>
        <p:txBody>
          <a:bodyPr wrap="none" lIns="0" tIns="0" rIns="0" bIns="0" rtlCol="0" anchor="t"/>
          <a:lstStyle/>
          <a:p>
            <a:pPr marL="0" indent="0" algn="l">
              <a:lnSpc>
                <a:spcPts val="2150"/>
              </a:lnSpc>
              <a:buNone/>
            </a:pPr>
            <a:r>
              <a:rPr lang="en-US" sz="1700" dirty="0">
                <a:solidFill>
                  <a:srgbClr val="E2E6E9"/>
                </a:solidFill>
                <a:latin typeface="Merriweather" pitchFamily="34" charset="0"/>
                <a:ea typeface="Merriweather" pitchFamily="34" charset="-122"/>
                <a:cs typeface="Merriweather" pitchFamily="34" charset="-120"/>
              </a:rPr>
              <a:t>Real-time Audio Feedback</a:t>
            </a:r>
            <a:endParaRPr lang="en-US" sz="1700" dirty="0"/>
          </a:p>
        </p:txBody>
      </p:sp>
      <p:sp>
        <p:nvSpPr>
          <p:cNvPr id="9" name="Text 4"/>
          <p:cNvSpPr/>
          <p:nvPr/>
        </p:nvSpPr>
        <p:spPr>
          <a:xfrm>
            <a:off x="1764863" y="5125164"/>
            <a:ext cx="12247840" cy="282297"/>
          </a:xfrm>
          <a:prstGeom prst="rect">
            <a:avLst/>
          </a:prstGeom>
          <a:noFill/>
          <a:ln/>
        </p:spPr>
        <p:txBody>
          <a:bodyPr wrap="none" lIns="0" tIns="0" rIns="0" bIns="0" rtlCol="0" anchor="t"/>
          <a:lstStyle/>
          <a:p>
            <a:pPr marL="0" indent="0" algn="l">
              <a:lnSpc>
                <a:spcPts val="2200"/>
              </a:lnSpc>
              <a:buNone/>
            </a:pPr>
            <a:r>
              <a:rPr lang="en-US" sz="1350" dirty="0">
                <a:solidFill>
                  <a:srgbClr val="E2E6E9"/>
                </a:solidFill>
                <a:latin typeface="Merriweather" pitchFamily="34" charset="0"/>
                <a:ea typeface="Merriweather" pitchFamily="34" charset="-122"/>
                <a:cs typeface="Merriweather" pitchFamily="34" charset="-120"/>
              </a:rPr>
              <a:t>Bone conduction headphones deliver discreet, continuous audio updates without obstructing environmental sounds.</a:t>
            </a:r>
            <a:endParaRPr lang="en-US" sz="1350" dirty="0"/>
          </a:p>
        </p:txBody>
      </p:sp>
      <p:pic>
        <p:nvPicPr>
          <p:cNvPr id="10" name="Image 3" descr="preencoded.png"/>
          <p:cNvPicPr>
            <a:picLocks noChangeAspect="1"/>
          </p:cNvPicPr>
          <p:nvPr/>
        </p:nvPicPr>
        <p:blipFill>
          <a:blip r:embed="rId5"/>
          <a:stretch>
            <a:fillRect/>
          </a:stretch>
        </p:blipFill>
        <p:spPr>
          <a:xfrm>
            <a:off x="617696" y="5626060"/>
            <a:ext cx="882491" cy="1058942"/>
          </a:xfrm>
          <a:prstGeom prst="rect">
            <a:avLst/>
          </a:prstGeom>
        </p:spPr>
      </p:pic>
      <p:sp>
        <p:nvSpPr>
          <p:cNvPr id="11" name="Text 5"/>
          <p:cNvSpPr/>
          <p:nvPr/>
        </p:nvSpPr>
        <p:spPr>
          <a:xfrm>
            <a:off x="1764863" y="5802511"/>
            <a:ext cx="3423880" cy="275749"/>
          </a:xfrm>
          <a:prstGeom prst="rect">
            <a:avLst/>
          </a:prstGeom>
          <a:noFill/>
          <a:ln/>
        </p:spPr>
        <p:txBody>
          <a:bodyPr wrap="none" lIns="0" tIns="0" rIns="0" bIns="0" rtlCol="0" anchor="t"/>
          <a:lstStyle/>
          <a:p>
            <a:pPr marL="0" indent="0" algn="l">
              <a:lnSpc>
                <a:spcPts val="2150"/>
              </a:lnSpc>
              <a:buNone/>
            </a:pPr>
            <a:r>
              <a:rPr lang="en-US" sz="1700" dirty="0">
                <a:solidFill>
                  <a:srgbClr val="E2E6E9"/>
                </a:solidFill>
                <a:latin typeface="Merriweather" pitchFamily="34" charset="0"/>
                <a:ea typeface="Merriweather" pitchFamily="34" charset="-122"/>
                <a:cs typeface="Merriweather" pitchFamily="34" charset="-120"/>
              </a:rPr>
              <a:t>AI-Powered Pattern Recognition</a:t>
            </a:r>
            <a:endParaRPr lang="en-US" sz="1700" dirty="0"/>
          </a:p>
        </p:txBody>
      </p:sp>
      <p:sp>
        <p:nvSpPr>
          <p:cNvPr id="12" name="Text 6"/>
          <p:cNvSpPr/>
          <p:nvPr/>
        </p:nvSpPr>
        <p:spPr>
          <a:xfrm>
            <a:off x="1764863" y="6184106"/>
            <a:ext cx="12247840" cy="282297"/>
          </a:xfrm>
          <a:prstGeom prst="rect">
            <a:avLst/>
          </a:prstGeom>
          <a:noFill/>
          <a:ln/>
        </p:spPr>
        <p:txBody>
          <a:bodyPr wrap="none" lIns="0" tIns="0" rIns="0" bIns="0" rtlCol="0" anchor="t"/>
          <a:lstStyle/>
          <a:p>
            <a:pPr marL="0" indent="0" algn="l">
              <a:lnSpc>
                <a:spcPts val="2200"/>
              </a:lnSpc>
              <a:buNone/>
            </a:pPr>
            <a:r>
              <a:rPr lang="en-US" sz="1350" dirty="0">
                <a:solidFill>
                  <a:srgbClr val="E2E6E9"/>
                </a:solidFill>
                <a:latin typeface="Merriweather" pitchFamily="34" charset="0"/>
                <a:ea typeface="Merriweather" pitchFamily="34" charset="-122"/>
                <a:cs typeface="Merriweather" pitchFamily="34" charset="-120"/>
              </a:rPr>
              <a:t>Machine learning algorithms enable personalized tracking by recognizing individual footstep patterns efficiently.</a:t>
            </a:r>
            <a:endParaRPr lang="en-US" sz="1350" dirty="0"/>
          </a:p>
        </p:txBody>
      </p:sp>
      <p:pic>
        <p:nvPicPr>
          <p:cNvPr id="13" name="Image 4" descr="preencoded.png"/>
          <p:cNvPicPr>
            <a:picLocks noChangeAspect="1"/>
          </p:cNvPicPr>
          <p:nvPr/>
        </p:nvPicPr>
        <p:blipFill>
          <a:blip r:embed="rId6"/>
          <a:stretch>
            <a:fillRect/>
          </a:stretch>
        </p:blipFill>
        <p:spPr>
          <a:xfrm>
            <a:off x="617696" y="6685002"/>
            <a:ext cx="882491" cy="1058942"/>
          </a:xfrm>
          <a:prstGeom prst="rect">
            <a:avLst/>
          </a:prstGeom>
        </p:spPr>
      </p:pic>
      <p:sp>
        <p:nvSpPr>
          <p:cNvPr id="14" name="Text 7"/>
          <p:cNvSpPr/>
          <p:nvPr/>
        </p:nvSpPr>
        <p:spPr>
          <a:xfrm>
            <a:off x="1764863" y="6861453"/>
            <a:ext cx="2845832" cy="275749"/>
          </a:xfrm>
          <a:prstGeom prst="rect">
            <a:avLst/>
          </a:prstGeom>
          <a:noFill/>
          <a:ln/>
        </p:spPr>
        <p:txBody>
          <a:bodyPr wrap="none" lIns="0" tIns="0" rIns="0" bIns="0" rtlCol="0" anchor="t"/>
          <a:lstStyle/>
          <a:p>
            <a:pPr marL="0" indent="0" algn="l">
              <a:lnSpc>
                <a:spcPts val="2150"/>
              </a:lnSpc>
              <a:buNone/>
            </a:pPr>
            <a:r>
              <a:rPr lang="en-US" sz="1700" dirty="0">
                <a:solidFill>
                  <a:srgbClr val="E2E6E9"/>
                </a:solidFill>
                <a:latin typeface="Merriweather" pitchFamily="34" charset="0"/>
                <a:ea typeface="Merriweather" pitchFamily="34" charset="-122"/>
                <a:cs typeface="Merriweather" pitchFamily="34" charset="-120"/>
              </a:rPr>
              <a:t>Accessible Companion App</a:t>
            </a:r>
            <a:endParaRPr lang="en-US" sz="1700" dirty="0"/>
          </a:p>
        </p:txBody>
      </p:sp>
      <p:sp>
        <p:nvSpPr>
          <p:cNvPr id="15" name="Text 8"/>
          <p:cNvSpPr/>
          <p:nvPr/>
        </p:nvSpPr>
        <p:spPr>
          <a:xfrm>
            <a:off x="1764863" y="7243048"/>
            <a:ext cx="12247840" cy="282297"/>
          </a:xfrm>
          <a:prstGeom prst="rect">
            <a:avLst/>
          </a:prstGeom>
          <a:noFill/>
          <a:ln/>
        </p:spPr>
        <p:txBody>
          <a:bodyPr wrap="none" lIns="0" tIns="0" rIns="0" bIns="0" rtlCol="0" anchor="t"/>
          <a:lstStyle/>
          <a:p>
            <a:pPr marL="0" indent="0" algn="l">
              <a:lnSpc>
                <a:spcPts val="2200"/>
              </a:lnSpc>
              <a:buNone/>
            </a:pPr>
            <a:r>
              <a:rPr lang="en-US" sz="1350" dirty="0">
                <a:solidFill>
                  <a:srgbClr val="E2E6E9"/>
                </a:solidFill>
                <a:latin typeface="Merriweather" pitchFamily="34" charset="0"/>
                <a:ea typeface="Merriweather" pitchFamily="34" charset="-122"/>
                <a:cs typeface="Merriweather" pitchFamily="34" charset="-120"/>
              </a:rPr>
              <a:t>Voice-controlled app integrates smoothly with existing navigation systems, offering comprehensive user control.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1163598"/>
            <a:ext cx="8306514"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Technological Methodology</a:t>
            </a:r>
            <a:endParaRPr lang="en-US" sz="4850" dirty="0"/>
          </a:p>
        </p:txBody>
      </p:sp>
      <p:sp>
        <p:nvSpPr>
          <p:cNvPr id="3" name="Text 1"/>
          <p:cNvSpPr/>
          <p:nvPr/>
        </p:nvSpPr>
        <p:spPr>
          <a:xfrm>
            <a:off x="863798" y="2551867"/>
            <a:ext cx="3894177"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Pressure-Sensitive Insoles</a:t>
            </a:r>
            <a:endParaRPr lang="en-US" sz="2400" dirty="0"/>
          </a:p>
        </p:txBody>
      </p:sp>
      <p:sp>
        <p:nvSpPr>
          <p:cNvPr id="4" name="Text 2"/>
          <p:cNvSpPr/>
          <p:nvPr/>
        </p:nvSpPr>
        <p:spPr>
          <a:xfrm>
            <a:off x="863798" y="3184207"/>
            <a:ext cx="615029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Featuring 16 strategically placed sensors to capture detailed foot pressure distribution for gait analysis.</a:t>
            </a:r>
            <a:endParaRPr lang="en-US" sz="1900" dirty="0"/>
          </a:p>
        </p:txBody>
      </p:sp>
      <p:sp>
        <p:nvSpPr>
          <p:cNvPr id="5" name="Text 3"/>
          <p:cNvSpPr/>
          <p:nvPr/>
        </p:nvSpPr>
        <p:spPr>
          <a:xfrm>
            <a:off x="7623929" y="2551867"/>
            <a:ext cx="3430429"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AI &amp; Machine Learning</a:t>
            </a:r>
            <a:endParaRPr lang="en-US" sz="2400" dirty="0"/>
          </a:p>
        </p:txBody>
      </p:sp>
      <p:sp>
        <p:nvSpPr>
          <p:cNvPr id="6" name="Text 4"/>
          <p:cNvSpPr/>
          <p:nvPr/>
        </p:nvSpPr>
        <p:spPr>
          <a:xfrm>
            <a:off x="7623929" y="3184207"/>
            <a:ext cx="615029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Advanced algorithms analyze pressure data to differentiate footstep patterns and provide precise activity tracking.</a:t>
            </a:r>
            <a:endParaRPr lang="en-US" sz="1900" dirty="0"/>
          </a:p>
        </p:txBody>
      </p:sp>
      <p:sp>
        <p:nvSpPr>
          <p:cNvPr id="7" name="Shape 5"/>
          <p:cNvSpPr/>
          <p:nvPr/>
        </p:nvSpPr>
        <p:spPr>
          <a:xfrm>
            <a:off x="863798" y="4868347"/>
            <a:ext cx="555308" cy="555308"/>
          </a:xfrm>
          <a:prstGeom prst="roundRect">
            <a:avLst>
              <a:gd name="adj" fmla="val 18669"/>
            </a:avLst>
          </a:prstGeom>
          <a:solidFill>
            <a:srgbClr val="003180"/>
          </a:solidFill>
          <a:ln w="15240">
            <a:solidFill>
              <a:srgbClr val="194A99"/>
            </a:solidFill>
            <a:prstDash val="solid"/>
          </a:ln>
        </p:spPr>
      </p:sp>
      <p:sp>
        <p:nvSpPr>
          <p:cNvPr id="8" name="Text 6"/>
          <p:cNvSpPr/>
          <p:nvPr/>
        </p:nvSpPr>
        <p:spPr>
          <a:xfrm>
            <a:off x="1665923" y="4953119"/>
            <a:ext cx="3231833"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Wireless Connectivity</a:t>
            </a:r>
            <a:endParaRPr lang="en-US" sz="2400" dirty="0"/>
          </a:p>
        </p:txBody>
      </p:sp>
      <p:sp>
        <p:nvSpPr>
          <p:cNvPr id="9" name="Text 7"/>
          <p:cNvSpPr/>
          <p:nvPr/>
        </p:nvSpPr>
        <p:spPr>
          <a:xfrm>
            <a:off x="1665923" y="5486638"/>
            <a:ext cx="5495092"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Bluetooth Low Energy ensures seamless data transmission to a smartphone with minimal power consumption.</a:t>
            </a:r>
            <a:endParaRPr lang="en-US" sz="1900" dirty="0"/>
          </a:p>
        </p:txBody>
      </p:sp>
      <p:sp>
        <p:nvSpPr>
          <p:cNvPr id="10" name="Shape 8"/>
          <p:cNvSpPr/>
          <p:nvPr/>
        </p:nvSpPr>
        <p:spPr>
          <a:xfrm>
            <a:off x="7469505" y="4868347"/>
            <a:ext cx="555308" cy="555308"/>
          </a:xfrm>
          <a:prstGeom prst="roundRect">
            <a:avLst>
              <a:gd name="adj" fmla="val 18669"/>
            </a:avLst>
          </a:prstGeom>
          <a:solidFill>
            <a:srgbClr val="003180"/>
          </a:solidFill>
          <a:ln w="15240">
            <a:solidFill>
              <a:srgbClr val="194A99"/>
            </a:solidFill>
            <a:prstDash val="solid"/>
          </a:ln>
        </p:spPr>
      </p:sp>
      <p:sp>
        <p:nvSpPr>
          <p:cNvPr id="11" name="Text 9"/>
          <p:cNvSpPr/>
          <p:nvPr/>
        </p:nvSpPr>
        <p:spPr>
          <a:xfrm>
            <a:off x="8271629" y="4953119"/>
            <a:ext cx="381642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Audio Feedback &amp; Battery</a:t>
            </a:r>
            <a:endParaRPr lang="en-US" sz="2400" dirty="0"/>
          </a:p>
        </p:txBody>
      </p:sp>
      <p:sp>
        <p:nvSpPr>
          <p:cNvPr id="12" name="Text 10"/>
          <p:cNvSpPr/>
          <p:nvPr/>
        </p:nvSpPr>
        <p:spPr>
          <a:xfrm>
            <a:off x="8271629" y="5486638"/>
            <a:ext cx="5495092"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Bone conduction audio delivers guidance while maintaining environmental awareness, supported by 7-day battery life and wireless charging.</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65215" y="3334464"/>
            <a:ext cx="7892534" cy="683181"/>
          </a:xfrm>
          <a:prstGeom prst="rect">
            <a:avLst/>
          </a:prstGeom>
          <a:noFill/>
          <a:ln/>
        </p:spPr>
        <p:txBody>
          <a:bodyPr wrap="none" lIns="0" tIns="0" rIns="0" bIns="0" rtlCol="0" anchor="t"/>
          <a:lstStyle/>
          <a:p>
            <a:pPr marL="0" indent="0" algn="l">
              <a:lnSpc>
                <a:spcPts val="5350"/>
              </a:lnSpc>
              <a:buNone/>
            </a:pPr>
            <a:r>
              <a:rPr lang="en-US" sz="4300" dirty="0">
                <a:solidFill>
                  <a:srgbClr val="F5F0F0"/>
                </a:solidFill>
                <a:latin typeface="Merriweather" pitchFamily="34" charset="0"/>
                <a:ea typeface="Merriweather" pitchFamily="34" charset="-122"/>
                <a:cs typeface="Merriweather" pitchFamily="34" charset="-120"/>
              </a:rPr>
              <a:t>User-Centered Design Process</a:t>
            </a:r>
            <a:endParaRPr lang="en-US" sz="4300" dirty="0"/>
          </a:p>
        </p:txBody>
      </p:sp>
      <p:sp>
        <p:nvSpPr>
          <p:cNvPr id="4" name="Shape 1"/>
          <p:cNvSpPr/>
          <p:nvPr/>
        </p:nvSpPr>
        <p:spPr>
          <a:xfrm>
            <a:off x="765215" y="4345543"/>
            <a:ext cx="491966" cy="491966"/>
          </a:xfrm>
          <a:prstGeom prst="roundRect">
            <a:avLst>
              <a:gd name="adj" fmla="val 18668"/>
            </a:avLst>
          </a:prstGeom>
          <a:solidFill>
            <a:srgbClr val="003180"/>
          </a:solidFill>
          <a:ln w="7620">
            <a:solidFill>
              <a:srgbClr val="194A99"/>
            </a:solidFill>
            <a:prstDash val="solid"/>
          </a:ln>
        </p:spPr>
      </p:sp>
      <p:sp>
        <p:nvSpPr>
          <p:cNvPr id="5" name="Text 2"/>
          <p:cNvSpPr/>
          <p:nvPr/>
        </p:nvSpPr>
        <p:spPr>
          <a:xfrm>
            <a:off x="1475780" y="4420672"/>
            <a:ext cx="2733199" cy="341709"/>
          </a:xfrm>
          <a:prstGeom prst="rect">
            <a:avLst/>
          </a:prstGeom>
          <a:noFill/>
          <a:ln/>
        </p:spPr>
        <p:txBody>
          <a:bodyPr wrap="none" lIns="0" tIns="0" rIns="0" bIns="0" rtlCol="0" anchor="t"/>
          <a:lstStyle/>
          <a:p>
            <a:pPr marL="0" indent="0" algn="l">
              <a:lnSpc>
                <a:spcPts val="2650"/>
              </a:lnSpc>
              <a:buNone/>
            </a:pPr>
            <a:r>
              <a:rPr lang="en-US" sz="2150" dirty="0">
                <a:solidFill>
                  <a:srgbClr val="E2E6E9"/>
                </a:solidFill>
                <a:latin typeface="Merriweather" pitchFamily="34" charset="0"/>
                <a:ea typeface="Merriweather" pitchFamily="34" charset="-122"/>
                <a:cs typeface="Merriweather" pitchFamily="34" charset="-120"/>
              </a:rPr>
              <a:t>Inclusive Co-Design</a:t>
            </a:r>
            <a:endParaRPr lang="en-US" sz="2150" dirty="0"/>
          </a:p>
        </p:txBody>
      </p:sp>
      <p:sp>
        <p:nvSpPr>
          <p:cNvPr id="6" name="Text 3"/>
          <p:cNvSpPr/>
          <p:nvPr/>
        </p:nvSpPr>
        <p:spPr>
          <a:xfrm>
            <a:off x="1475780" y="4893469"/>
            <a:ext cx="5702856" cy="699849"/>
          </a:xfrm>
          <a:prstGeom prst="rect">
            <a:avLst/>
          </a:prstGeom>
          <a:noFill/>
          <a:ln/>
        </p:spPr>
        <p:txBody>
          <a:bodyPr wrap="squar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Developed collaboratively with blind community focus groups to ensure relevance and usability.</a:t>
            </a:r>
            <a:endParaRPr lang="en-US" sz="1700" dirty="0"/>
          </a:p>
        </p:txBody>
      </p:sp>
      <p:sp>
        <p:nvSpPr>
          <p:cNvPr id="7" name="Shape 4"/>
          <p:cNvSpPr/>
          <p:nvPr/>
        </p:nvSpPr>
        <p:spPr>
          <a:xfrm>
            <a:off x="7451884" y="4345543"/>
            <a:ext cx="491966" cy="491966"/>
          </a:xfrm>
          <a:prstGeom prst="roundRect">
            <a:avLst>
              <a:gd name="adj" fmla="val 18668"/>
            </a:avLst>
          </a:prstGeom>
          <a:solidFill>
            <a:srgbClr val="003180"/>
          </a:solidFill>
          <a:ln w="7620">
            <a:solidFill>
              <a:srgbClr val="194A99"/>
            </a:solidFill>
            <a:prstDash val="solid"/>
          </a:ln>
        </p:spPr>
      </p:sp>
      <p:sp>
        <p:nvSpPr>
          <p:cNvPr id="8" name="Text 5"/>
          <p:cNvSpPr/>
          <p:nvPr/>
        </p:nvSpPr>
        <p:spPr>
          <a:xfrm>
            <a:off x="8162449" y="4420672"/>
            <a:ext cx="2734508" cy="341709"/>
          </a:xfrm>
          <a:prstGeom prst="rect">
            <a:avLst/>
          </a:prstGeom>
          <a:noFill/>
          <a:ln/>
        </p:spPr>
        <p:txBody>
          <a:bodyPr wrap="none" lIns="0" tIns="0" rIns="0" bIns="0" rtlCol="0" anchor="t"/>
          <a:lstStyle/>
          <a:p>
            <a:pPr marL="0" indent="0" algn="l">
              <a:lnSpc>
                <a:spcPts val="2650"/>
              </a:lnSpc>
              <a:buNone/>
            </a:pPr>
            <a:r>
              <a:rPr lang="en-US" sz="2150" dirty="0">
                <a:solidFill>
                  <a:srgbClr val="E2E6E9"/>
                </a:solidFill>
                <a:latin typeface="Merriweather" pitchFamily="34" charset="0"/>
                <a:ea typeface="Merriweather" pitchFamily="34" charset="-122"/>
                <a:cs typeface="Merriweather" pitchFamily="34" charset="-120"/>
              </a:rPr>
              <a:t>Iterative Prototyping</a:t>
            </a:r>
            <a:endParaRPr lang="en-US" sz="2150" dirty="0"/>
          </a:p>
        </p:txBody>
      </p:sp>
      <p:sp>
        <p:nvSpPr>
          <p:cNvPr id="9" name="Text 6"/>
          <p:cNvSpPr/>
          <p:nvPr/>
        </p:nvSpPr>
        <p:spPr>
          <a:xfrm>
            <a:off x="8162449" y="4893469"/>
            <a:ext cx="5702856" cy="699849"/>
          </a:xfrm>
          <a:prstGeom prst="rect">
            <a:avLst/>
          </a:prstGeom>
          <a:noFill/>
          <a:ln/>
        </p:spPr>
        <p:txBody>
          <a:bodyPr wrap="squar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Tested with 25 visually impaired individuals to refine form factor and interface for maximum accessibility.</a:t>
            </a:r>
            <a:endParaRPr lang="en-US" sz="1700" dirty="0"/>
          </a:p>
        </p:txBody>
      </p:sp>
      <p:sp>
        <p:nvSpPr>
          <p:cNvPr id="10" name="Shape 7"/>
          <p:cNvSpPr/>
          <p:nvPr/>
        </p:nvSpPr>
        <p:spPr>
          <a:xfrm>
            <a:off x="765215" y="6030635"/>
            <a:ext cx="491966" cy="491966"/>
          </a:xfrm>
          <a:prstGeom prst="roundRect">
            <a:avLst>
              <a:gd name="adj" fmla="val 18668"/>
            </a:avLst>
          </a:prstGeom>
          <a:solidFill>
            <a:srgbClr val="003180"/>
          </a:solidFill>
          <a:ln w="7620">
            <a:solidFill>
              <a:srgbClr val="194A99"/>
            </a:solidFill>
            <a:prstDash val="solid"/>
          </a:ln>
        </p:spPr>
      </p:sp>
      <p:sp>
        <p:nvSpPr>
          <p:cNvPr id="11" name="Text 8"/>
          <p:cNvSpPr/>
          <p:nvPr/>
        </p:nvSpPr>
        <p:spPr>
          <a:xfrm>
            <a:off x="1475780" y="6105763"/>
            <a:ext cx="2837378" cy="341709"/>
          </a:xfrm>
          <a:prstGeom prst="rect">
            <a:avLst/>
          </a:prstGeom>
          <a:noFill/>
          <a:ln/>
        </p:spPr>
        <p:txBody>
          <a:bodyPr wrap="none" lIns="0" tIns="0" rIns="0" bIns="0" rtlCol="0" anchor="t"/>
          <a:lstStyle/>
          <a:p>
            <a:pPr marL="0" indent="0" algn="l">
              <a:lnSpc>
                <a:spcPts val="2650"/>
              </a:lnSpc>
              <a:buNone/>
            </a:pPr>
            <a:r>
              <a:rPr lang="en-US" sz="2150" dirty="0">
                <a:solidFill>
                  <a:srgbClr val="E2E6E9"/>
                </a:solidFill>
                <a:latin typeface="Merriweather" pitchFamily="34" charset="0"/>
                <a:ea typeface="Merriweather" pitchFamily="34" charset="-122"/>
                <a:cs typeface="Merriweather" pitchFamily="34" charset="-120"/>
              </a:rPr>
              <a:t>Non-intrusive Design</a:t>
            </a:r>
            <a:endParaRPr lang="en-US" sz="2150" dirty="0"/>
          </a:p>
        </p:txBody>
      </p:sp>
      <p:sp>
        <p:nvSpPr>
          <p:cNvPr id="12" name="Text 9"/>
          <p:cNvSpPr/>
          <p:nvPr/>
        </p:nvSpPr>
        <p:spPr>
          <a:xfrm>
            <a:off x="1475780" y="6578560"/>
            <a:ext cx="5702856" cy="1049774"/>
          </a:xfrm>
          <a:prstGeom prst="rect">
            <a:avLst/>
          </a:prstGeom>
          <a:noFill/>
          <a:ln/>
        </p:spPr>
        <p:txBody>
          <a:bodyPr wrap="squar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Avoids reliance on handheld devices, using subtle audio cues and personalized voice commands for ease of use.</a:t>
            </a:r>
            <a:endParaRPr lang="en-US" sz="1700" dirty="0"/>
          </a:p>
        </p:txBody>
      </p:sp>
      <p:sp>
        <p:nvSpPr>
          <p:cNvPr id="13" name="Shape 10"/>
          <p:cNvSpPr/>
          <p:nvPr/>
        </p:nvSpPr>
        <p:spPr>
          <a:xfrm>
            <a:off x="7451884" y="6030635"/>
            <a:ext cx="491966" cy="491966"/>
          </a:xfrm>
          <a:prstGeom prst="roundRect">
            <a:avLst>
              <a:gd name="adj" fmla="val 18668"/>
            </a:avLst>
          </a:prstGeom>
          <a:solidFill>
            <a:srgbClr val="003180"/>
          </a:solidFill>
          <a:ln w="7620">
            <a:solidFill>
              <a:srgbClr val="194A99"/>
            </a:solidFill>
            <a:prstDash val="solid"/>
          </a:ln>
        </p:spPr>
      </p:sp>
      <p:sp>
        <p:nvSpPr>
          <p:cNvPr id="14" name="Text 11"/>
          <p:cNvSpPr/>
          <p:nvPr/>
        </p:nvSpPr>
        <p:spPr>
          <a:xfrm>
            <a:off x="8162449" y="6105763"/>
            <a:ext cx="2733199" cy="341709"/>
          </a:xfrm>
          <a:prstGeom prst="rect">
            <a:avLst/>
          </a:prstGeom>
          <a:noFill/>
          <a:ln/>
        </p:spPr>
        <p:txBody>
          <a:bodyPr wrap="none" lIns="0" tIns="0" rIns="0" bIns="0" rtlCol="0" anchor="t"/>
          <a:lstStyle/>
          <a:p>
            <a:pPr marL="0" indent="0" algn="l">
              <a:lnSpc>
                <a:spcPts val="2650"/>
              </a:lnSpc>
              <a:buNone/>
            </a:pPr>
            <a:r>
              <a:rPr lang="en-US" sz="2150" dirty="0">
                <a:solidFill>
                  <a:srgbClr val="E2E6E9"/>
                </a:solidFill>
                <a:latin typeface="Merriweather" pitchFamily="34" charset="0"/>
                <a:ea typeface="Merriweather" pitchFamily="34" charset="-122"/>
                <a:cs typeface="Merriweather" pitchFamily="34" charset="-120"/>
              </a:rPr>
              <a:t>Compatibility</a:t>
            </a:r>
            <a:endParaRPr lang="en-US" sz="2150" dirty="0"/>
          </a:p>
        </p:txBody>
      </p:sp>
      <p:sp>
        <p:nvSpPr>
          <p:cNvPr id="15" name="Text 12"/>
          <p:cNvSpPr/>
          <p:nvPr/>
        </p:nvSpPr>
        <p:spPr>
          <a:xfrm>
            <a:off x="8162449" y="6578560"/>
            <a:ext cx="5702856" cy="1049774"/>
          </a:xfrm>
          <a:prstGeom prst="rect">
            <a:avLst/>
          </a:prstGeom>
          <a:noFill/>
          <a:ln/>
        </p:spPr>
        <p:txBody>
          <a:bodyPr wrap="squar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Integrates seamlessly with existing mobility aids, including canes and guide dogs, to enhance overall navigation confidence.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1637" y="559118"/>
            <a:ext cx="6412468" cy="635437"/>
          </a:xfrm>
          <a:prstGeom prst="rect">
            <a:avLst/>
          </a:prstGeom>
          <a:noFill/>
          <a:ln/>
        </p:spPr>
        <p:txBody>
          <a:bodyPr wrap="none" lIns="0" tIns="0" rIns="0" bIns="0" rtlCol="0" anchor="t"/>
          <a:lstStyle/>
          <a:p>
            <a:pPr marL="0" indent="0" algn="l">
              <a:lnSpc>
                <a:spcPts val="5000"/>
              </a:lnSpc>
              <a:buNone/>
            </a:pPr>
            <a:r>
              <a:rPr lang="en-US" sz="4000" dirty="0">
                <a:solidFill>
                  <a:srgbClr val="F5F0F0"/>
                </a:solidFill>
                <a:latin typeface="Merriweather" pitchFamily="34" charset="0"/>
                <a:ea typeface="Merriweather" pitchFamily="34" charset="-122"/>
                <a:cs typeface="Merriweather" pitchFamily="34" charset="-120"/>
              </a:rPr>
              <a:t>Implementation Roadmap</a:t>
            </a:r>
            <a:endParaRPr lang="en-US" sz="4000" dirty="0"/>
          </a:p>
        </p:txBody>
      </p:sp>
      <p:sp>
        <p:nvSpPr>
          <p:cNvPr id="3" name="Shape 1"/>
          <p:cNvSpPr/>
          <p:nvPr/>
        </p:nvSpPr>
        <p:spPr>
          <a:xfrm>
            <a:off x="7303770" y="1601153"/>
            <a:ext cx="22860" cy="6071116"/>
          </a:xfrm>
          <a:prstGeom prst="roundRect">
            <a:avLst>
              <a:gd name="adj" fmla="val 373590"/>
            </a:avLst>
          </a:prstGeom>
          <a:solidFill>
            <a:srgbClr val="194A99"/>
          </a:solidFill>
          <a:ln/>
        </p:spPr>
      </p:sp>
      <p:sp>
        <p:nvSpPr>
          <p:cNvPr id="4" name="Shape 2"/>
          <p:cNvSpPr/>
          <p:nvPr/>
        </p:nvSpPr>
        <p:spPr>
          <a:xfrm>
            <a:off x="6499384" y="1818442"/>
            <a:ext cx="609957" cy="22860"/>
          </a:xfrm>
          <a:prstGeom prst="roundRect">
            <a:avLst>
              <a:gd name="adj" fmla="val 373590"/>
            </a:avLst>
          </a:prstGeom>
          <a:solidFill>
            <a:srgbClr val="194A99"/>
          </a:solidFill>
          <a:ln/>
        </p:spPr>
      </p:sp>
      <p:sp>
        <p:nvSpPr>
          <p:cNvPr id="5" name="Shape 3"/>
          <p:cNvSpPr/>
          <p:nvPr/>
        </p:nvSpPr>
        <p:spPr>
          <a:xfrm>
            <a:off x="7086481" y="1601153"/>
            <a:ext cx="457438" cy="457438"/>
          </a:xfrm>
          <a:prstGeom prst="roundRect">
            <a:avLst>
              <a:gd name="adj" fmla="val 18670"/>
            </a:avLst>
          </a:prstGeom>
          <a:solidFill>
            <a:srgbClr val="003180"/>
          </a:solidFill>
          <a:ln w="7620">
            <a:solidFill>
              <a:srgbClr val="194A99"/>
            </a:solidFill>
            <a:prstDash val="solid"/>
          </a:ln>
        </p:spPr>
      </p:sp>
      <p:sp>
        <p:nvSpPr>
          <p:cNvPr id="6" name="Text 4"/>
          <p:cNvSpPr/>
          <p:nvPr/>
        </p:nvSpPr>
        <p:spPr>
          <a:xfrm>
            <a:off x="7162740" y="1639253"/>
            <a:ext cx="304919" cy="381238"/>
          </a:xfrm>
          <a:prstGeom prst="rect">
            <a:avLst/>
          </a:prstGeom>
          <a:noFill/>
          <a:ln/>
        </p:spPr>
        <p:txBody>
          <a:bodyPr wrap="none" lIns="0" tIns="0" rIns="0" bIns="0" rtlCol="0" anchor="t"/>
          <a:lstStyle/>
          <a:p>
            <a:pPr marL="0" indent="0" algn="ctr">
              <a:lnSpc>
                <a:spcPts val="2400"/>
              </a:lnSpc>
              <a:buNone/>
            </a:pPr>
            <a:r>
              <a:rPr lang="en-US" sz="2400" dirty="0">
                <a:solidFill>
                  <a:srgbClr val="E2E6E9"/>
                </a:solidFill>
                <a:latin typeface="Merriweather" pitchFamily="34" charset="0"/>
                <a:ea typeface="Merriweather" pitchFamily="34" charset="-122"/>
                <a:cs typeface="Merriweather" pitchFamily="34" charset="-120"/>
              </a:rPr>
              <a:t>1</a:t>
            </a:r>
            <a:endParaRPr lang="en-US" sz="2400" dirty="0"/>
          </a:p>
        </p:txBody>
      </p:sp>
      <p:sp>
        <p:nvSpPr>
          <p:cNvPr id="7" name="Text 5"/>
          <p:cNvSpPr/>
          <p:nvPr/>
        </p:nvSpPr>
        <p:spPr>
          <a:xfrm>
            <a:off x="2376130" y="1671042"/>
            <a:ext cx="3922395" cy="317659"/>
          </a:xfrm>
          <a:prstGeom prst="rect">
            <a:avLst/>
          </a:prstGeom>
          <a:noFill/>
          <a:ln/>
        </p:spPr>
        <p:txBody>
          <a:bodyPr wrap="none" lIns="0" tIns="0" rIns="0" bIns="0" rtlCol="0" anchor="t"/>
          <a:lstStyle/>
          <a:p>
            <a:pPr marL="0" indent="0" algn="r">
              <a:lnSpc>
                <a:spcPts val="2500"/>
              </a:lnSpc>
              <a:buNone/>
            </a:pPr>
            <a:r>
              <a:rPr lang="en-US" sz="2000" dirty="0">
                <a:solidFill>
                  <a:srgbClr val="E2E6E9"/>
                </a:solidFill>
                <a:latin typeface="Merriweather" pitchFamily="34" charset="0"/>
                <a:ea typeface="Merriweather" pitchFamily="34" charset="-122"/>
                <a:cs typeface="Merriweather" pitchFamily="34" charset="-120"/>
              </a:rPr>
              <a:t>Phase 1: Prototype Development</a:t>
            </a:r>
            <a:endParaRPr lang="en-US" sz="2000" dirty="0"/>
          </a:p>
        </p:txBody>
      </p:sp>
      <p:sp>
        <p:nvSpPr>
          <p:cNvPr id="8" name="Text 6"/>
          <p:cNvSpPr/>
          <p:nvPr/>
        </p:nvSpPr>
        <p:spPr>
          <a:xfrm>
            <a:off x="711637" y="2110621"/>
            <a:ext cx="5586889" cy="650558"/>
          </a:xfrm>
          <a:prstGeom prst="rect">
            <a:avLst/>
          </a:prstGeom>
          <a:noFill/>
          <a:ln/>
        </p:spPr>
        <p:txBody>
          <a:bodyPr wrap="square" lIns="0" tIns="0" rIns="0" bIns="0" rtlCol="0" anchor="t"/>
          <a:lstStyle/>
          <a:p>
            <a:pPr marL="0" indent="0" algn="r">
              <a:lnSpc>
                <a:spcPts val="2550"/>
              </a:lnSpc>
              <a:buNone/>
            </a:pPr>
            <a:r>
              <a:rPr lang="en-US" sz="1600" dirty="0">
                <a:solidFill>
                  <a:srgbClr val="E2E6E9"/>
                </a:solidFill>
                <a:latin typeface="Merriweather" pitchFamily="34" charset="0"/>
                <a:ea typeface="Merriweather" pitchFamily="34" charset="-122"/>
                <a:cs typeface="Merriweather" pitchFamily="34" charset="-120"/>
              </a:rPr>
              <a:t>Build initial hardware and software; conduct preliminary user tests over 3 months.</a:t>
            </a:r>
            <a:endParaRPr lang="en-US" sz="1600" dirty="0"/>
          </a:p>
        </p:txBody>
      </p:sp>
      <p:sp>
        <p:nvSpPr>
          <p:cNvPr id="9" name="Shape 7"/>
          <p:cNvSpPr/>
          <p:nvPr/>
        </p:nvSpPr>
        <p:spPr>
          <a:xfrm>
            <a:off x="7521059" y="3038356"/>
            <a:ext cx="609957" cy="22860"/>
          </a:xfrm>
          <a:prstGeom prst="roundRect">
            <a:avLst>
              <a:gd name="adj" fmla="val 373590"/>
            </a:avLst>
          </a:prstGeom>
          <a:solidFill>
            <a:srgbClr val="194A99"/>
          </a:solidFill>
          <a:ln/>
        </p:spPr>
      </p:sp>
      <p:sp>
        <p:nvSpPr>
          <p:cNvPr id="10" name="Shape 8"/>
          <p:cNvSpPr/>
          <p:nvPr/>
        </p:nvSpPr>
        <p:spPr>
          <a:xfrm>
            <a:off x="7086481" y="2821067"/>
            <a:ext cx="457438" cy="457438"/>
          </a:xfrm>
          <a:prstGeom prst="roundRect">
            <a:avLst>
              <a:gd name="adj" fmla="val 18670"/>
            </a:avLst>
          </a:prstGeom>
          <a:solidFill>
            <a:srgbClr val="003180"/>
          </a:solidFill>
          <a:ln w="7620">
            <a:solidFill>
              <a:srgbClr val="194A99"/>
            </a:solidFill>
            <a:prstDash val="solid"/>
          </a:ln>
        </p:spPr>
      </p:sp>
      <p:sp>
        <p:nvSpPr>
          <p:cNvPr id="11" name="Text 9"/>
          <p:cNvSpPr/>
          <p:nvPr/>
        </p:nvSpPr>
        <p:spPr>
          <a:xfrm>
            <a:off x="7162740" y="2859167"/>
            <a:ext cx="304919" cy="381238"/>
          </a:xfrm>
          <a:prstGeom prst="rect">
            <a:avLst/>
          </a:prstGeom>
          <a:noFill/>
          <a:ln/>
        </p:spPr>
        <p:txBody>
          <a:bodyPr wrap="none" lIns="0" tIns="0" rIns="0" bIns="0" rtlCol="0" anchor="t"/>
          <a:lstStyle/>
          <a:p>
            <a:pPr marL="0" indent="0" algn="ctr">
              <a:lnSpc>
                <a:spcPts val="2400"/>
              </a:lnSpc>
              <a:buNone/>
            </a:pPr>
            <a:r>
              <a:rPr lang="en-US" sz="2400" dirty="0">
                <a:solidFill>
                  <a:srgbClr val="E2E6E9"/>
                </a:solidFill>
                <a:latin typeface="Merriweather" pitchFamily="34" charset="0"/>
                <a:ea typeface="Merriweather" pitchFamily="34" charset="-122"/>
                <a:cs typeface="Merriweather" pitchFamily="34" charset="-120"/>
              </a:rPr>
              <a:t>2</a:t>
            </a:r>
            <a:endParaRPr lang="en-US" sz="2400" dirty="0"/>
          </a:p>
        </p:txBody>
      </p:sp>
      <p:sp>
        <p:nvSpPr>
          <p:cNvPr id="12" name="Text 10"/>
          <p:cNvSpPr/>
          <p:nvPr/>
        </p:nvSpPr>
        <p:spPr>
          <a:xfrm>
            <a:off x="8331875" y="2890957"/>
            <a:ext cx="2590800" cy="317659"/>
          </a:xfrm>
          <a:prstGeom prst="rect">
            <a:avLst/>
          </a:prstGeom>
          <a:noFill/>
          <a:ln/>
        </p:spPr>
        <p:txBody>
          <a:bodyPr wrap="none" lIns="0" tIns="0" rIns="0" bIns="0" rtlCol="0" anchor="t"/>
          <a:lstStyle/>
          <a:p>
            <a:pPr marL="0" indent="0" algn="l">
              <a:lnSpc>
                <a:spcPts val="2500"/>
              </a:lnSpc>
              <a:buNone/>
            </a:pPr>
            <a:r>
              <a:rPr lang="en-US" sz="2000" dirty="0">
                <a:solidFill>
                  <a:srgbClr val="E2E6E9"/>
                </a:solidFill>
                <a:latin typeface="Merriweather" pitchFamily="34" charset="0"/>
                <a:ea typeface="Merriweather" pitchFamily="34" charset="-122"/>
                <a:cs typeface="Merriweather" pitchFamily="34" charset="-120"/>
              </a:rPr>
              <a:t>Phase 2: Beta Testing</a:t>
            </a:r>
            <a:endParaRPr lang="en-US" sz="2000" dirty="0"/>
          </a:p>
        </p:txBody>
      </p:sp>
      <p:sp>
        <p:nvSpPr>
          <p:cNvPr id="13" name="Text 11"/>
          <p:cNvSpPr/>
          <p:nvPr/>
        </p:nvSpPr>
        <p:spPr>
          <a:xfrm>
            <a:off x="8331875" y="3330535"/>
            <a:ext cx="5586889" cy="650558"/>
          </a:xfrm>
          <a:prstGeom prst="rect">
            <a:avLst/>
          </a:prstGeom>
          <a:noFill/>
          <a:ln/>
        </p:spPr>
        <p:txBody>
          <a:bodyPr wrap="square" lIns="0" tIns="0" rIns="0" bIns="0" rtlCol="0" anchor="t"/>
          <a:lstStyle/>
          <a:p>
            <a:pPr marL="0" indent="0" algn="l">
              <a:lnSpc>
                <a:spcPts val="2550"/>
              </a:lnSpc>
              <a:buNone/>
            </a:pPr>
            <a:r>
              <a:rPr lang="en-US" sz="1600" dirty="0">
                <a:solidFill>
                  <a:srgbClr val="E2E6E9"/>
                </a:solidFill>
                <a:latin typeface="Merriweather" pitchFamily="34" charset="0"/>
                <a:ea typeface="Merriweather" pitchFamily="34" charset="-122"/>
                <a:cs typeface="Merriweather" pitchFamily="34" charset="-120"/>
              </a:rPr>
              <a:t>Engage 100 visually impaired participants in extensive trials lasting 6 months for feedback and iteration.</a:t>
            </a:r>
            <a:endParaRPr lang="en-US" sz="1600" dirty="0"/>
          </a:p>
        </p:txBody>
      </p:sp>
      <p:sp>
        <p:nvSpPr>
          <p:cNvPr id="14" name="Shape 12"/>
          <p:cNvSpPr/>
          <p:nvPr/>
        </p:nvSpPr>
        <p:spPr>
          <a:xfrm>
            <a:off x="6499384" y="4089916"/>
            <a:ext cx="609957" cy="22860"/>
          </a:xfrm>
          <a:prstGeom prst="roundRect">
            <a:avLst>
              <a:gd name="adj" fmla="val 373590"/>
            </a:avLst>
          </a:prstGeom>
          <a:solidFill>
            <a:srgbClr val="194A99"/>
          </a:solidFill>
          <a:ln/>
        </p:spPr>
      </p:sp>
      <p:sp>
        <p:nvSpPr>
          <p:cNvPr id="15" name="Shape 13"/>
          <p:cNvSpPr/>
          <p:nvPr/>
        </p:nvSpPr>
        <p:spPr>
          <a:xfrm>
            <a:off x="7086481" y="3872627"/>
            <a:ext cx="457438" cy="457438"/>
          </a:xfrm>
          <a:prstGeom prst="roundRect">
            <a:avLst>
              <a:gd name="adj" fmla="val 18670"/>
            </a:avLst>
          </a:prstGeom>
          <a:solidFill>
            <a:srgbClr val="003180"/>
          </a:solidFill>
          <a:ln w="7620">
            <a:solidFill>
              <a:srgbClr val="194A99"/>
            </a:solidFill>
            <a:prstDash val="solid"/>
          </a:ln>
        </p:spPr>
      </p:sp>
      <p:sp>
        <p:nvSpPr>
          <p:cNvPr id="16" name="Text 14"/>
          <p:cNvSpPr/>
          <p:nvPr/>
        </p:nvSpPr>
        <p:spPr>
          <a:xfrm>
            <a:off x="7162740" y="3910727"/>
            <a:ext cx="304919" cy="381238"/>
          </a:xfrm>
          <a:prstGeom prst="rect">
            <a:avLst/>
          </a:prstGeom>
          <a:noFill/>
          <a:ln/>
        </p:spPr>
        <p:txBody>
          <a:bodyPr wrap="none" lIns="0" tIns="0" rIns="0" bIns="0" rtlCol="0" anchor="t"/>
          <a:lstStyle/>
          <a:p>
            <a:pPr marL="0" indent="0" algn="ctr">
              <a:lnSpc>
                <a:spcPts val="2400"/>
              </a:lnSpc>
              <a:buNone/>
            </a:pPr>
            <a:r>
              <a:rPr lang="en-US" sz="2400" dirty="0">
                <a:solidFill>
                  <a:srgbClr val="E2E6E9"/>
                </a:solidFill>
                <a:latin typeface="Merriweather" pitchFamily="34" charset="0"/>
                <a:ea typeface="Merriweather" pitchFamily="34" charset="-122"/>
                <a:cs typeface="Merriweather" pitchFamily="34" charset="-120"/>
              </a:rPr>
              <a:t>3</a:t>
            </a:r>
            <a:endParaRPr lang="en-US" sz="2400" dirty="0"/>
          </a:p>
        </p:txBody>
      </p:sp>
      <p:sp>
        <p:nvSpPr>
          <p:cNvPr id="17" name="Text 15"/>
          <p:cNvSpPr/>
          <p:nvPr/>
        </p:nvSpPr>
        <p:spPr>
          <a:xfrm>
            <a:off x="2934891" y="3942517"/>
            <a:ext cx="3363635" cy="317659"/>
          </a:xfrm>
          <a:prstGeom prst="rect">
            <a:avLst/>
          </a:prstGeom>
          <a:noFill/>
          <a:ln/>
        </p:spPr>
        <p:txBody>
          <a:bodyPr wrap="none" lIns="0" tIns="0" rIns="0" bIns="0" rtlCol="0" anchor="t"/>
          <a:lstStyle/>
          <a:p>
            <a:pPr marL="0" indent="0" algn="r">
              <a:lnSpc>
                <a:spcPts val="2500"/>
              </a:lnSpc>
              <a:buNone/>
            </a:pPr>
            <a:r>
              <a:rPr lang="en-US" sz="2000" dirty="0">
                <a:solidFill>
                  <a:srgbClr val="E2E6E9"/>
                </a:solidFill>
                <a:latin typeface="Merriweather" pitchFamily="34" charset="0"/>
                <a:ea typeface="Merriweather" pitchFamily="34" charset="-122"/>
                <a:cs typeface="Merriweather" pitchFamily="34" charset="-120"/>
              </a:rPr>
              <a:t>Phase 3: Scaling Production</a:t>
            </a:r>
            <a:endParaRPr lang="en-US" sz="2000" dirty="0"/>
          </a:p>
        </p:txBody>
      </p:sp>
      <p:sp>
        <p:nvSpPr>
          <p:cNvPr id="18" name="Text 16"/>
          <p:cNvSpPr/>
          <p:nvPr/>
        </p:nvSpPr>
        <p:spPr>
          <a:xfrm>
            <a:off x="711637" y="4382095"/>
            <a:ext cx="5586889" cy="650558"/>
          </a:xfrm>
          <a:prstGeom prst="rect">
            <a:avLst/>
          </a:prstGeom>
          <a:noFill/>
          <a:ln/>
        </p:spPr>
        <p:txBody>
          <a:bodyPr wrap="square" lIns="0" tIns="0" rIns="0" bIns="0" rtlCol="0" anchor="t"/>
          <a:lstStyle/>
          <a:p>
            <a:pPr marL="0" indent="0" algn="r">
              <a:lnSpc>
                <a:spcPts val="2550"/>
              </a:lnSpc>
              <a:buNone/>
            </a:pPr>
            <a:r>
              <a:rPr lang="en-US" sz="1600" dirty="0">
                <a:solidFill>
                  <a:srgbClr val="E2E6E9"/>
                </a:solidFill>
                <a:latin typeface="Merriweather" pitchFamily="34" charset="0"/>
                <a:ea typeface="Merriweather" pitchFamily="34" charset="-122"/>
                <a:cs typeface="Merriweather" pitchFamily="34" charset="-120"/>
              </a:rPr>
              <a:t>Establish partnerships with manufacturers to enable mass production and distribution.</a:t>
            </a:r>
            <a:endParaRPr lang="en-US" sz="1600" dirty="0"/>
          </a:p>
        </p:txBody>
      </p:sp>
      <p:sp>
        <p:nvSpPr>
          <p:cNvPr id="19" name="Shape 17"/>
          <p:cNvSpPr/>
          <p:nvPr/>
        </p:nvSpPr>
        <p:spPr>
          <a:xfrm>
            <a:off x="7521059" y="5141476"/>
            <a:ext cx="609957" cy="22860"/>
          </a:xfrm>
          <a:prstGeom prst="roundRect">
            <a:avLst>
              <a:gd name="adj" fmla="val 373590"/>
            </a:avLst>
          </a:prstGeom>
          <a:solidFill>
            <a:srgbClr val="194A99"/>
          </a:solidFill>
          <a:ln/>
        </p:spPr>
      </p:sp>
      <p:sp>
        <p:nvSpPr>
          <p:cNvPr id="20" name="Shape 18"/>
          <p:cNvSpPr/>
          <p:nvPr/>
        </p:nvSpPr>
        <p:spPr>
          <a:xfrm>
            <a:off x="7086481" y="4924187"/>
            <a:ext cx="457438" cy="457438"/>
          </a:xfrm>
          <a:prstGeom prst="roundRect">
            <a:avLst>
              <a:gd name="adj" fmla="val 18670"/>
            </a:avLst>
          </a:prstGeom>
          <a:solidFill>
            <a:srgbClr val="003180"/>
          </a:solidFill>
          <a:ln w="7620">
            <a:solidFill>
              <a:srgbClr val="194A99"/>
            </a:solidFill>
            <a:prstDash val="solid"/>
          </a:ln>
        </p:spPr>
      </p:sp>
      <p:sp>
        <p:nvSpPr>
          <p:cNvPr id="21" name="Text 19"/>
          <p:cNvSpPr/>
          <p:nvPr/>
        </p:nvSpPr>
        <p:spPr>
          <a:xfrm>
            <a:off x="7162740" y="4962287"/>
            <a:ext cx="304919" cy="381238"/>
          </a:xfrm>
          <a:prstGeom prst="rect">
            <a:avLst/>
          </a:prstGeom>
          <a:noFill/>
          <a:ln/>
        </p:spPr>
        <p:txBody>
          <a:bodyPr wrap="none" lIns="0" tIns="0" rIns="0" bIns="0" rtlCol="0" anchor="t"/>
          <a:lstStyle/>
          <a:p>
            <a:pPr marL="0" indent="0" algn="ctr">
              <a:lnSpc>
                <a:spcPts val="2400"/>
              </a:lnSpc>
              <a:buNone/>
            </a:pPr>
            <a:r>
              <a:rPr lang="en-US" sz="2400" dirty="0">
                <a:solidFill>
                  <a:srgbClr val="E2E6E9"/>
                </a:solidFill>
                <a:latin typeface="Merriweather" pitchFamily="34" charset="0"/>
                <a:ea typeface="Merriweather" pitchFamily="34" charset="-122"/>
                <a:cs typeface="Merriweather" pitchFamily="34" charset="-120"/>
              </a:rPr>
              <a:t>4</a:t>
            </a:r>
            <a:endParaRPr lang="en-US" sz="2400" dirty="0"/>
          </a:p>
        </p:txBody>
      </p:sp>
      <p:sp>
        <p:nvSpPr>
          <p:cNvPr id="22" name="Text 20"/>
          <p:cNvSpPr/>
          <p:nvPr/>
        </p:nvSpPr>
        <p:spPr>
          <a:xfrm>
            <a:off x="8331875" y="4994077"/>
            <a:ext cx="3577947" cy="317659"/>
          </a:xfrm>
          <a:prstGeom prst="rect">
            <a:avLst/>
          </a:prstGeom>
          <a:noFill/>
          <a:ln/>
        </p:spPr>
        <p:txBody>
          <a:bodyPr wrap="none" lIns="0" tIns="0" rIns="0" bIns="0" rtlCol="0" anchor="t"/>
          <a:lstStyle/>
          <a:p>
            <a:pPr marL="0" indent="0" algn="l">
              <a:lnSpc>
                <a:spcPts val="2500"/>
              </a:lnSpc>
              <a:buNone/>
            </a:pPr>
            <a:r>
              <a:rPr lang="en-US" sz="2000" dirty="0">
                <a:solidFill>
                  <a:srgbClr val="E2E6E9"/>
                </a:solidFill>
                <a:latin typeface="Merriweather" pitchFamily="34" charset="0"/>
                <a:ea typeface="Merriweather" pitchFamily="34" charset="-122"/>
                <a:cs typeface="Merriweather" pitchFamily="34" charset="-120"/>
              </a:rPr>
              <a:t>Phase 4: Platform Integration</a:t>
            </a:r>
            <a:endParaRPr lang="en-US" sz="2000" dirty="0"/>
          </a:p>
        </p:txBody>
      </p:sp>
      <p:sp>
        <p:nvSpPr>
          <p:cNvPr id="23" name="Text 21"/>
          <p:cNvSpPr/>
          <p:nvPr/>
        </p:nvSpPr>
        <p:spPr>
          <a:xfrm>
            <a:off x="8331875" y="5433655"/>
            <a:ext cx="5586889" cy="650558"/>
          </a:xfrm>
          <a:prstGeom prst="rect">
            <a:avLst/>
          </a:prstGeom>
          <a:noFill/>
          <a:ln/>
        </p:spPr>
        <p:txBody>
          <a:bodyPr wrap="square" lIns="0" tIns="0" rIns="0" bIns="0" rtlCol="0" anchor="t"/>
          <a:lstStyle/>
          <a:p>
            <a:pPr marL="0" indent="0" algn="l">
              <a:lnSpc>
                <a:spcPts val="2550"/>
              </a:lnSpc>
              <a:buNone/>
            </a:pPr>
            <a:r>
              <a:rPr lang="en-US" sz="1600" dirty="0">
                <a:solidFill>
                  <a:srgbClr val="E2E6E9"/>
                </a:solidFill>
                <a:latin typeface="Merriweather" pitchFamily="34" charset="0"/>
                <a:ea typeface="Merriweather" pitchFamily="34" charset="-122"/>
                <a:cs typeface="Merriweather" pitchFamily="34" charset="-120"/>
              </a:rPr>
              <a:t>Collaborate with major accessibility platform providers to expand ecosystem compatibility.</a:t>
            </a:r>
            <a:endParaRPr lang="en-US" sz="1600" dirty="0"/>
          </a:p>
        </p:txBody>
      </p:sp>
      <p:sp>
        <p:nvSpPr>
          <p:cNvPr id="24" name="Shape 22"/>
          <p:cNvSpPr/>
          <p:nvPr/>
        </p:nvSpPr>
        <p:spPr>
          <a:xfrm>
            <a:off x="6499384" y="6193036"/>
            <a:ext cx="609957" cy="22860"/>
          </a:xfrm>
          <a:prstGeom prst="roundRect">
            <a:avLst>
              <a:gd name="adj" fmla="val 373590"/>
            </a:avLst>
          </a:prstGeom>
          <a:solidFill>
            <a:srgbClr val="194A99"/>
          </a:solidFill>
          <a:ln/>
        </p:spPr>
      </p:sp>
      <p:sp>
        <p:nvSpPr>
          <p:cNvPr id="25" name="Shape 23"/>
          <p:cNvSpPr/>
          <p:nvPr/>
        </p:nvSpPr>
        <p:spPr>
          <a:xfrm>
            <a:off x="7086481" y="5975747"/>
            <a:ext cx="457438" cy="457438"/>
          </a:xfrm>
          <a:prstGeom prst="roundRect">
            <a:avLst>
              <a:gd name="adj" fmla="val 18670"/>
            </a:avLst>
          </a:prstGeom>
          <a:solidFill>
            <a:srgbClr val="003180"/>
          </a:solidFill>
          <a:ln w="7620">
            <a:solidFill>
              <a:srgbClr val="194A99"/>
            </a:solidFill>
            <a:prstDash val="solid"/>
          </a:ln>
        </p:spPr>
      </p:sp>
      <p:sp>
        <p:nvSpPr>
          <p:cNvPr id="26" name="Text 24"/>
          <p:cNvSpPr/>
          <p:nvPr/>
        </p:nvSpPr>
        <p:spPr>
          <a:xfrm>
            <a:off x="7162740" y="6013847"/>
            <a:ext cx="304919" cy="381238"/>
          </a:xfrm>
          <a:prstGeom prst="rect">
            <a:avLst/>
          </a:prstGeom>
          <a:noFill/>
          <a:ln/>
        </p:spPr>
        <p:txBody>
          <a:bodyPr wrap="none" lIns="0" tIns="0" rIns="0" bIns="0" rtlCol="0" anchor="t"/>
          <a:lstStyle/>
          <a:p>
            <a:pPr marL="0" indent="0" algn="ctr">
              <a:lnSpc>
                <a:spcPts val="2400"/>
              </a:lnSpc>
              <a:buNone/>
            </a:pPr>
            <a:r>
              <a:rPr lang="en-US" sz="2400" dirty="0">
                <a:solidFill>
                  <a:srgbClr val="E2E6E9"/>
                </a:solidFill>
                <a:latin typeface="Merriweather" pitchFamily="34" charset="0"/>
                <a:ea typeface="Merriweather" pitchFamily="34" charset="-122"/>
                <a:cs typeface="Merriweather" pitchFamily="34" charset="-120"/>
              </a:rPr>
              <a:t>5</a:t>
            </a:r>
            <a:endParaRPr lang="en-US" sz="2400" dirty="0"/>
          </a:p>
        </p:txBody>
      </p:sp>
      <p:sp>
        <p:nvSpPr>
          <p:cNvPr id="27" name="Text 25"/>
          <p:cNvSpPr/>
          <p:nvPr/>
        </p:nvSpPr>
        <p:spPr>
          <a:xfrm>
            <a:off x="2113359" y="6045637"/>
            <a:ext cx="4185166" cy="317659"/>
          </a:xfrm>
          <a:prstGeom prst="rect">
            <a:avLst/>
          </a:prstGeom>
          <a:noFill/>
          <a:ln/>
        </p:spPr>
        <p:txBody>
          <a:bodyPr wrap="none" lIns="0" tIns="0" rIns="0" bIns="0" rtlCol="0" anchor="t"/>
          <a:lstStyle/>
          <a:p>
            <a:pPr marL="0" indent="0" algn="r">
              <a:lnSpc>
                <a:spcPts val="2500"/>
              </a:lnSpc>
              <a:buNone/>
            </a:pPr>
            <a:r>
              <a:rPr lang="en-US" sz="2000" dirty="0">
                <a:solidFill>
                  <a:srgbClr val="E2E6E9"/>
                </a:solidFill>
                <a:latin typeface="Merriweather" pitchFamily="34" charset="0"/>
                <a:ea typeface="Merriweather" pitchFamily="34" charset="-122"/>
                <a:cs typeface="Merriweather" pitchFamily="34" charset="-120"/>
              </a:rPr>
              <a:t>Phase 5: Continuous Improvement</a:t>
            </a:r>
            <a:endParaRPr lang="en-US" sz="2000" dirty="0"/>
          </a:p>
        </p:txBody>
      </p:sp>
      <p:sp>
        <p:nvSpPr>
          <p:cNvPr id="28" name="Text 26"/>
          <p:cNvSpPr/>
          <p:nvPr/>
        </p:nvSpPr>
        <p:spPr>
          <a:xfrm>
            <a:off x="711637" y="6485215"/>
            <a:ext cx="5586889" cy="650558"/>
          </a:xfrm>
          <a:prstGeom prst="rect">
            <a:avLst/>
          </a:prstGeom>
          <a:noFill/>
          <a:ln/>
        </p:spPr>
        <p:txBody>
          <a:bodyPr wrap="square" lIns="0" tIns="0" rIns="0" bIns="0" rtlCol="0" anchor="t"/>
          <a:lstStyle/>
          <a:p>
            <a:pPr marL="0" indent="0" algn="r">
              <a:lnSpc>
                <a:spcPts val="2550"/>
              </a:lnSpc>
              <a:buNone/>
            </a:pPr>
            <a:r>
              <a:rPr lang="en-US" sz="1600" dirty="0">
                <a:solidFill>
                  <a:srgbClr val="E2E6E9"/>
                </a:solidFill>
                <a:latin typeface="Merriweather" pitchFamily="34" charset="0"/>
                <a:ea typeface="Merriweather" pitchFamily="34" charset="-122"/>
                <a:cs typeface="Merriweather" pitchFamily="34" charset="-120"/>
              </a:rPr>
              <a:t>Iterate product features continuously based on user feedback and emerging technologies.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1472803"/>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Impact &amp; Next Steps</a:t>
            </a:r>
            <a:endParaRPr lang="en-US" sz="4850" dirty="0"/>
          </a:p>
        </p:txBody>
      </p:sp>
      <p:sp>
        <p:nvSpPr>
          <p:cNvPr id="3" name="Text 1"/>
          <p:cNvSpPr/>
          <p:nvPr/>
        </p:nvSpPr>
        <p:spPr>
          <a:xfrm>
            <a:off x="863798" y="2861072"/>
            <a:ext cx="4088011"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Empowering Independence</a:t>
            </a:r>
            <a:endParaRPr lang="en-US" sz="2400" dirty="0"/>
          </a:p>
        </p:txBody>
      </p:sp>
      <p:sp>
        <p:nvSpPr>
          <p:cNvPr id="4" name="Text 2"/>
          <p:cNvSpPr/>
          <p:nvPr/>
        </p:nvSpPr>
        <p:spPr>
          <a:xfrm>
            <a:off x="863798" y="3493413"/>
            <a:ext cx="615029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Unlock independent mobility for millions, improving quality of life and self-confidence for the visually impaired community.</a:t>
            </a:r>
            <a:endParaRPr lang="en-US" sz="1900" dirty="0"/>
          </a:p>
        </p:txBody>
      </p:sp>
      <p:sp>
        <p:nvSpPr>
          <p:cNvPr id="5" name="Text 3"/>
          <p:cNvSpPr/>
          <p:nvPr/>
        </p:nvSpPr>
        <p:spPr>
          <a:xfrm>
            <a:off x="7623929" y="2861072"/>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Health &amp; Wellness</a:t>
            </a:r>
            <a:endParaRPr lang="en-US" sz="2400" dirty="0"/>
          </a:p>
        </p:txBody>
      </p:sp>
      <p:sp>
        <p:nvSpPr>
          <p:cNvPr id="6" name="Text 4"/>
          <p:cNvSpPr/>
          <p:nvPr/>
        </p:nvSpPr>
        <p:spPr>
          <a:xfrm>
            <a:off x="7623929" y="3493413"/>
            <a:ext cx="615029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Promote physical activity through accessible fitness tracking, leading to better health outcomes.</a:t>
            </a:r>
            <a:endParaRPr lang="en-US" sz="1900" dirty="0"/>
          </a:p>
        </p:txBody>
      </p:sp>
      <p:sp>
        <p:nvSpPr>
          <p:cNvPr id="7" name="Text 5"/>
          <p:cNvSpPr/>
          <p:nvPr/>
        </p:nvSpPr>
        <p:spPr>
          <a:xfrm>
            <a:off x="863798" y="5177552"/>
            <a:ext cx="1290280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We are actively seeking $250,000 in seed funding to finalize prototype development and launch pilot programs. Key partnerships are in place with CNIB, NFB, and academic research institutions to enhance innovation. Our vision is to create the world’s first comprehensive mobility ecosystem dedicated to the blind, setting a new standard in accessibility technology.</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675</Words>
  <Application>Microsoft Office PowerPoint</Application>
  <PresentationFormat>Custom</PresentationFormat>
  <Paragraphs>76</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Merriweather Bold</vt:lpstr>
      <vt:lpstr>Arial</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Shivam Tyagi</cp:lastModifiedBy>
  <cp:revision>2</cp:revision>
  <dcterms:created xsi:type="dcterms:W3CDTF">2025-05-22T15:30:01Z</dcterms:created>
  <dcterms:modified xsi:type="dcterms:W3CDTF">2025-05-22T15:50:15Z</dcterms:modified>
</cp:coreProperties>
</file>